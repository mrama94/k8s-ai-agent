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project built on a local kind cluster. Everything is free and open source. The point: how to let an AI act on a cluster without trusting it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only reads and plans. Code applies, and only after a person clicks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one kind cluster plus Ollama on the host. Prometheus, Grafana and Loki give the agent its evidence. Argo CD keeps the platform in sync with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Guards are in code and deny by default. RBAC is the hard limit in the cluster, pinned by a test, and checked live with 25 kubectl auth can-i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7B model slips in predictable ways. Each slip is handled in code, so correctness never depends on the model behaving.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Alerts reach the agent by webhook. A run waits for approval like any chat run, and only one alert-driven run is active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edits live objects, which a GitOps tool would treat as drift. So demo is manual sync: drift is shown, never reverted.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come from runs on a two-node kind cluster with qwen2.5:7b on a MacBook. Rebuild time is from nothing to every app Healthy, with secrets identical to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selector typo is a good example because the pods are healthy. The fault is only visible by comparing the Service selector with the pod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clear about the gap is part of the design. The left column is already how a production setup would work; the right column is what changes on a real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Kubernetes Troubleshooting AI Agent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Investigates cluster problems, proposes a fix, waits for a human, applies it safely and verifies the result</a:t>
            </a:r>
            <a:endParaRPr lang="en-US" sz="1800" dirty="0"/>
          </a:p>
        </p:txBody>
      </p:sp>
      <p:sp>
        <p:nvSpPr>
          <p:cNvPr id="4" name="Project tag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 ·  SELF-HOSTED  ·  LOCAL LLM, NO CLOUD DEPENDENCY</a:t>
            </a:r>
            <a:endParaRPr lang="en-US" sz="1200" dirty="0"/>
          </a:p>
        </p:txBody>
      </p:sp>
      <p:sp>
        <p:nvSpPr>
          <p:cNvPr id="5" name="Chip LangGraph"/>
          <p:cNvSpPr/>
          <p:nvPr/>
        </p:nvSpPr>
        <p:spPr>
          <a:xfrm>
            <a:off x="548640" y="3931920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hip text LangGraph"/>
          <p:cNvSpPr txBox="1"/>
          <p:nvPr/>
        </p:nvSpPr>
        <p:spPr>
          <a:xfrm>
            <a:off x="548640" y="3931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7" name="Chip FastAPI"/>
          <p:cNvSpPr/>
          <p:nvPr/>
        </p:nvSpPr>
        <p:spPr>
          <a:xfrm>
            <a:off x="1783080" y="3931920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hip text FastAPI"/>
          <p:cNvSpPr txBox="1"/>
          <p:nvPr/>
        </p:nvSpPr>
        <p:spPr>
          <a:xfrm>
            <a:off x="178308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9" name="Chip Ollama"/>
          <p:cNvSpPr/>
          <p:nvPr/>
        </p:nvSpPr>
        <p:spPr>
          <a:xfrm>
            <a:off x="2834640" y="3931920"/>
            <a:ext cx="82296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ip text Ollama"/>
          <p:cNvSpPr txBox="1"/>
          <p:nvPr/>
        </p:nvSpPr>
        <p:spPr>
          <a:xfrm>
            <a:off x="2834640" y="3931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11" name="Chip Argo CD"/>
          <p:cNvSpPr/>
          <p:nvPr/>
        </p:nvSpPr>
        <p:spPr>
          <a:xfrm>
            <a:off x="3794760" y="3931920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hip text Argo CD"/>
          <p:cNvSpPr txBox="1"/>
          <p:nvPr/>
        </p:nvSpPr>
        <p:spPr>
          <a:xfrm>
            <a:off x="379476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200" dirty="0"/>
          </a:p>
        </p:txBody>
      </p:sp>
      <p:sp>
        <p:nvSpPr>
          <p:cNvPr id="13" name="Chip Prometheus"/>
          <p:cNvSpPr/>
          <p:nvPr/>
        </p:nvSpPr>
        <p:spPr>
          <a:xfrm>
            <a:off x="4846320" y="3931920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hip text Prometheus"/>
          <p:cNvSpPr txBox="1"/>
          <p:nvPr/>
        </p:nvSpPr>
        <p:spPr>
          <a:xfrm>
            <a:off x="484632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5" name="Chip Grafana"/>
          <p:cNvSpPr/>
          <p:nvPr/>
        </p:nvSpPr>
        <p:spPr>
          <a:xfrm>
            <a:off x="6172200" y="3931920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hip text Grafana"/>
          <p:cNvSpPr txBox="1"/>
          <p:nvPr/>
        </p:nvSpPr>
        <p:spPr>
          <a:xfrm>
            <a:off x="617220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17" name="Chip Loki"/>
          <p:cNvSpPr/>
          <p:nvPr/>
        </p:nvSpPr>
        <p:spPr>
          <a:xfrm>
            <a:off x="7223760" y="3931920"/>
            <a:ext cx="6400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hip text Loki"/>
          <p:cNvSpPr txBox="1"/>
          <p:nvPr/>
        </p:nvSpPr>
        <p:spPr>
          <a:xfrm>
            <a:off x="7223760" y="3931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alert to verified fix</a:t>
            </a:r>
            <a:endParaRPr lang="en-US" sz="3200" dirty="0"/>
          </a:p>
        </p:txBody>
      </p:sp>
      <p:sp>
        <p:nvSpPr>
          <p:cNvPr id="4" name="Step card 1"/>
          <p:cNvSpPr/>
          <p:nvPr/>
        </p:nvSpPr>
        <p:spPr>
          <a:xfrm>
            <a:off x="457200" y="1371600"/>
            <a:ext cx="128016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badge 1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number 1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tep head 1"/>
          <p:cNvSpPr txBox="1"/>
          <p:nvPr/>
        </p:nvSpPr>
        <p:spPr>
          <a:xfrm>
            <a:off x="594360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500" dirty="0"/>
          </a:p>
        </p:txBody>
      </p:sp>
      <p:sp>
        <p:nvSpPr>
          <p:cNvPr id="8" name="Step caption 1"/>
          <p:cNvSpPr txBox="1"/>
          <p:nvPr/>
        </p:nvSpPr>
        <p:spPr>
          <a:xfrm>
            <a:off x="594360" y="2560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or chat question</a:t>
            </a:r>
            <a:endParaRPr lang="en-US" sz="1200" dirty="0"/>
          </a:p>
        </p:txBody>
      </p:sp>
      <p:sp>
        <p:nvSpPr>
          <p:cNvPr id="9" name="Step card 2"/>
          <p:cNvSpPr/>
          <p:nvPr/>
        </p:nvSpPr>
        <p:spPr>
          <a:xfrm>
            <a:off x="1847088" y="1371600"/>
            <a:ext cx="128016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badge 2"/>
          <p:cNvSpPr/>
          <p:nvPr/>
        </p:nvSpPr>
        <p:spPr>
          <a:xfrm>
            <a:off x="1984248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tep number 2"/>
          <p:cNvSpPr txBox="1"/>
          <p:nvPr/>
        </p:nvSpPr>
        <p:spPr>
          <a:xfrm>
            <a:off x="198424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tep head 2"/>
          <p:cNvSpPr txBox="1"/>
          <p:nvPr/>
        </p:nvSpPr>
        <p:spPr>
          <a:xfrm>
            <a:off x="1984248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13" name="Step caption 2"/>
          <p:cNvSpPr txBox="1"/>
          <p:nvPr/>
        </p:nvSpPr>
        <p:spPr>
          <a:xfrm>
            <a:off x="1984248" y="2560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read-only tools</a:t>
            </a:r>
            <a:endParaRPr lang="en-US" sz="1200" dirty="0"/>
          </a:p>
        </p:txBody>
      </p:sp>
      <p:sp>
        <p:nvSpPr>
          <p:cNvPr id="14" name="Step card 3"/>
          <p:cNvSpPr/>
          <p:nvPr/>
        </p:nvSpPr>
        <p:spPr>
          <a:xfrm>
            <a:off x="3236976" y="1371600"/>
            <a:ext cx="128016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badge 3"/>
          <p:cNvSpPr/>
          <p:nvPr/>
        </p:nvSpPr>
        <p:spPr>
          <a:xfrm>
            <a:off x="3374136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tep number 3"/>
          <p:cNvSpPr txBox="1"/>
          <p:nvPr/>
        </p:nvSpPr>
        <p:spPr>
          <a:xfrm>
            <a:off x="337413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tep head 3"/>
          <p:cNvSpPr txBox="1"/>
          <p:nvPr/>
        </p:nvSpPr>
        <p:spPr>
          <a:xfrm>
            <a:off x="3374136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500" dirty="0"/>
          </a:p>
        </p:txBody>
      </p:sp>
      <p:sp>
        <p:nvSpPr>
          <p:cNvPr id="18" name="Step caption 3"/>
          <p:cNvSpPr txBox="1"/>
          <p:nvPr/>
        </p:nvSpPr>
        <p:spPr>
          <a:xfrm>
            <a:off x="3374136" y="2560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plus dry-run preview</a:t>
            </a:r>
            <a:endParaRPr lang="en-US" sz="1200" dirty="0"/>
          </a:p>
        </p:txBody>
      </p:sp>
      <p:sp>
        <p:nvSpPr>
          <p:cNvPr id="19" name="Step card 4"/>
          <p:cNvSpPr/>
          <p:nvPr/>
        </p:nvSpPr>
        <p:spPr>
          <a:xfrm>
            <a:off x="4626864" y="1371600"/>
            <a:ext cx="128016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badge 4"/>
          <p:cNvSpPr/>
          <p:nvPr/>
        </p:nvSpPr>
        <p:spPr>
          <a:xfrm>
            <a:off x="4764024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number 4"/>
          <p:cNvSpPr txBox="1"/>
          <p:nvPr/>
        </p:nvSpPr>
        <p:spPr>
          <a:xfrm>
            <a:off x="476402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tep head 4"/>
          <p:cNvSpPr txBox="1"/>
          <p:nvPr/>
        </p:nvSpPr>
        <p:spPr>
          <a:xfrm>
            <a:off x="4764024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23" name="Step caption 4"/>
          <p:cNvSpPr txBox="1"/>
          <p:nvPr/>
        </p:nvSpPr>
        <p:spPr>
          <a:xfrm>
            <a:off x="4764024" y="2560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</a:t>
            </a:r>
            <a:endParaRPr lang="en-US" sz="1200" dirty="0"/>
          </a:p>
        </p:txBody>
      </p:sp>
      <p:sp>
        <p:nvSpPr>
          <p:cNvPr id="24" name="Step card 5"/>
          <p:cNvSpPr/>
          <p:nvPr/>
        </p:nvSpPr>
        <p:spPr>
          <a:xfrm>
            <a:off x="6016752" y="1371600"/>
            <a:ext cx="128016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badge 5"/>
          <p:cNvSpPr/>
          <p:nvPr/>
        </p:nvSpPr>
        <p:spPr>
          <a:xfrm>
            <a:off x="6153912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tep number 5"/>
          <p:cNvSpPr txBox="1"/>
          <p:nvPr/>
        </p:nvSpPr>
        <p:spPr>
          <a:xfrm>
            <a:off x="615391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tep head 5"/>
          <p:cNvSpPr txBox="1"/>
          <p:nvPr/>
        </p:nvSpPr>
        <p:spPr>
          <a:xfrm>
            <a:off x="6153912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/>
          </a:p>
        </p:txBody>
      </p:sp>
      <p:sp>
        <p:nvSpPr>
          <p:cNvPr id="28" name="Step caption 5"/>
          <p:cNvSpPr txBox="1"/>
          <p:nvPr/>
        </p:nvSpPr>
        <p:spPr>
          <a:xfrm>
            <a:off x="6153912" y="2560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write action</a:t>
            </a:r>
            <a:endParaRPr lang="en-US" sz="1200" dirty="0"/>
          </a:p>
        </p:txBody>
      </p:sp>
      <p:sp>
        <p:nvSpPr>
          <p:cNvPr id="29" name="Step card 6"/>
          <p:cNvSpPr/>
          <p:nvPr/>
        </p:nvSpPr>
        <p:spPr>
          <a:xfrm>
            <a:off x="7406640" y="1371600"/>
            <a:ext cx="128016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ep badge 6"/>
          <p:cNvSpPr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Step number 6"/>
          <p:cNvSpPr txBox="1"/>
          <p:nvPr/>
        </p:nvSpPr>
        <p:spPr>
          <a:xfrm>
            <a:off x="7543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tep head 6"/>
          <p:cNvSpPr txBox="1"/>
          <p:nvPr/>
        </p:nvSpPr>
        <p:spPr>
          <a:xfrm>
            <a:off x="7543800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33" name="Step caption 6"/>
          <p:cNvSpPr txBox="1"/>
          <p:nvPr/>
        </p:nvSpPr>
        <p:spPr>
          <a:xfrm>
            <a:off x="7543800" y="2560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 live state</a:t>
            </a:r>
            <a:endParaRPr lang="en-US" sz="1200" dirty="0"/>
          </a:p>
        </p:txBody>
      </p:sp>
      <p:sp>
        <p:nvSpPr>
          <p:cNvPr id="34" name="Principle band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Principle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holds a write tool. Code performs every change, and only after approval.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</a:t>
            </a:r>
            <a:endParaRPr lang="en-US" sz="3200" dirty="0"/>
          </a:p>
        </p:txBody>
      </p:sp>
      <p:sp>
        <p:nvSpPr>
          <p:cNvPr id="4" name="Chat UI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hat UI text"/>
          <p:cNvSpPr txBox="1"/>
          <p:nvPr/>
        </p:nvSpPr>
        <p:spPr>
          <a:xfrm>
            <a:off x="594360" y="1280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500" dirty="0"/>
          </a:p>
        </p:txBody>
      </p:sp>
      <p:sp>
        <p:nvSpPr>
          <p:cNvPr id="6" name="Alert webhook"/>
          <p:cNvSpPr/>
          <p:nvPr/>
        </p:nvSpPr>
        <p:spPr>
          <a:xfrm>
            <a:off x="457200" y="228600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Alert webhook text"/>
          <p:cNvSpPr txBox="1"/>
          <p:nvPr/>
        </p:nvSpPr>
        <p:spPr>
          <a:xfrm>
            <a:off x="59436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Webhook, bearer token</a:t>
            </a:r>
            <a:endParaRPr lang="en-US" sz="1500" dirty="0"/>
          </a:p>
        </p:txBody>
      </p:sp>
      <p:sp>
        <p:nvSpPr>
          <p:cNvPr id="8" name="Agent"/>
          <p:cNvSpPr/>
          <p:nvPr/>
        </p:nvSpPr>
        <p:spPr>
          <a:xfrm>
            <a:off x="2834640" y="128016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gent text"/>
          <p:cNvSpPr txBox="1"/>
          <p:nvPr/>
        </p:nvSpPr>
        <p:spPr>
          <a:xfrm>
            <a:off x="2971800" y="12801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checkpoints on a volume</a:t>
            </a:r>
            <a:endParaRPr lang="en-US" sz="1500" dirty="0"/>
          </a:p>
        </p:txBody>
      </p:sp>
      <p:sp>
        <p:nvSpPr>
          <p:cNvPr id="10" name="LLM"/>
          <p:cNvSpPr/>
          <p:nvPr/>
        </p:nvSpPr>
        <p:spPr>
          <a:xfrm>
            <a:off x="5760720" y="1280160"/>
            <a:ext cx="29260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LLM text"/>
          <p:cNvSpPr txBox="1"/>
          <p:nvPr/>
        </p:nvSpPr>
        <p:spPr>
          <a:xfrm>
            <a:off x="589788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qwen2.5:7b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on the host</a:t>
            </a:r>
            <a:endParaRPr lang="en-US" sz="1500" dirty="0"/>
          </a:p>
        </p:txBody>
      </p:sp>
      <p:sp>
        <p:nvSpPr>
          <p:cNvPr id="12" name="Cluster"/>
          <p:cNvSpPr/>
          <p:nvPr/>
        </p:nvSpPr>
        <p:spPr>
          <a:xfrm>
            <a:off x="5760720" y="2286000"/>
            <a:ext cx="29260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luster text"/>
          <p:cNvSpPr txBox="1"/>
          <p:nvPr/>
        </p:nvSpPr>
        <p:spPr>
          <a:xfrm>
            <a:off x="589788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cluster-wide · Write: demo only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2286000" y="1645920"/>
            <a:ext cx="548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2286000" y="2651760"/>
            <a:ext cx="548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5212080" y="1645920"/>
            <a:ext cx="548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5212080" y="2651760"/>
            <a:ext cx="548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Observability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bservability text"/>
          <p:cNvSpPr txBox="1"/>
          <p:nvPr/>
        </p:nvSpPr>
        <p:spPr>
          <a:xfrm>
            <a:off x="594360" y="34290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Alertmanager · Grafana · Loki + Alloy</a:t>
            </a:r>
            <a:endParaRPr lang="en-US" sz="1500" dirty="0"/>
          </a:p>
        </p:txBody>
      </p:sp>
      <p:sp>
        <p:nvSpPr>
          <p:cNvPr id="20" name="Delivery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Delivery text"/>
          <p:cNvSpPr txBox="1"/>
          <p:nvPr/>
        </p:nvSpPr>
        <p:spPr>
          <a:xfrm>
            <a:off x="4800600" y="34290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GHCR · Argo CD · Sealed Secrets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locks on every write</a:t>
            </a:r>
            <a:endParaRPr lang="en-US" sz="3200" dirty="0"/>
          </a:p>
        </p:txBody>
      </p:sp>
      <p:sp>
        <p:nvSpPr>
          <p:cNvPr id="4" name="Lock card 1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ock badge 1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Lock number 1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Lock head 1"/>
          <p:cNvSpPr txBox="1"/>
          <p:nvPr/>
        </p:nvSpPr>
        <p:spPr>
          <a:xfrm>
            <a:off x="1188720" y="1389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guards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default, tested</a:t>
            </a:r>
            <a:endParaRPr lang="en-US" sz="1800" dirty="0"/>
          </a:p>
        </p:txBody>
      </p:sp>
      <p:sp>
        <p:nvSpPr>
          <p:cNvPr id="8" name="Lock bullets 1"/>
          <p:cNvSpPr txBox="1"/>
          <p:nvPr/>
        </p:nvSpPr>
        <p:spPr>
          <a:xfrm>
            <a:off x="685800" y="20574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hostNetwork, privileged or hostPath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limited to 1 to 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LoadBalancer or NodePort Services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only for Job, CronJob, Service, ConfigMap</a:t>
            </a:r>
            <a:endParaRPr lang="en-US" sz="1400" dirty="0"/>
          </a:p>
        </p:txBody>
      </p:sp>
      <p:sp>
        <p:nvSpPr>
          <p:cNvPr id="9" name="Lock card 2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ock badge 2"/>
          <p:cNvSpPr/>
          <p:nvPr/>
        </p:nvSpPr>
        <p:spPr>
          <a:xfrm>
            <a:off x="4846320" y="144475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Lock number 2"/>
          <p:cNvSpPr txBox="1"/>
          <p:nvPr/>
        </p:nvSpPr>
        <p:spPr>
          <a:xfrm>
            <a:off x="48463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Lock head 2"/>
          <p:cNvSpPr txBox="1"/>
          <p:nvPr/>
        </p:nvSpPr>
        <p:spPr>
          <a:xfrm>
            <a:off x="5394960" y="1389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RBAC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limit</a:t>
            </a:r>
            <a:endParaRPr lang="en-US" sz="1800" dirty="0"/>
          </a:p>
        </p:txBody>
      </p:sp>
      <p:sp>
        <p:nvSpPr>
          <p:cNvPr id="13" name="Lock bullets 2"/>
          <p:cNvSpPr txBox="1"/>
          <p:nvPr/>
        </p:nvSpPr>
        <p:spPr>
          <a:xfrm>
            <a:off x="4892040" y="20574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only in the demo namespace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Secrets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read rights removed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by a test, checked live</a:t>
            </a:r>
            <a:endParaRPr lang="en-US" sz="1400" dirty="0"/>
          </a:p>
        </p:txBody>
      </p:sp>
      <p:sp>
        <p:nvSpPr>
          <p:cNvPr id="14" name="Safety band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Safety stat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write actions  ·  12 read tools  ·  25 of 25 live permission checks as expected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Making a small local model dependable</a:t>
            </a:r>
            <a:endParaRPr lang="en-US" sz="3200" dirty="0"/>
          </a:p>
        </p:txBody>
      </p:sp>
      <p:sp>
        <p:nvSpPr>
          <p:cNvPr id="4" name="Header left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200" dirty="0"/>
          </a:p>
        </p:txBody>
      </p:sp>
      <p:sp>
        <p:nvSpPr>
          <p:cNvPr id="5" name="Header right"/>
          <p:cNvSpPr txBox="1"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DOES</a:t>
            </a:r>
            <a:endParaRPr lang="en-US" sz="1200" dirty="0"/>
          </a:p>
        </p:txBody>
      </p:sp>
      <p:sp>
        <p:nvSpPr>
          <p:cNvPr id="6" name="Problem card 1"/>
          <p:cNvSpPr/>
          <p:nvPr/>
        </p:nvSpPr>
        <p:spPr>
          <a:xfrm>
            <a:off x="457200" y="1508760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roblem 1"/>
          <p:cNvSpPr txBox="1"/>
          <p:nvPr/>
        </p:nvSpPr>
        <p:spPr>
          <a:xfrm>
            <a:off x="64008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Omits the target name in a plan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4480560" y="182880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Fix card 1"/>
          <p:cNvSpPr/>
          <p:nvPr/>
        </p:nvSpPr>
        <p:spPr>
          <a:xfrm>
            <a:off x="5029200" y="1508760"/>
            <a:ext cx="3657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Fix 1"/>
          <p:cNvSpPr txBox="1"/>
          <p:nvPr/>
        </p:nvSpPr>
        <p:spPr>
          <a:xfrm>
            <a:off x="5212080" y="15087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infers it from the object facts</a:t>
            </a:r>
            <a:endParaRPr lang="en-US" sz="1400" dirty="0"/>
          </a:p>
        </p:txBody>
      </p:sp>
      <p:sp>
        <p:nvSpPr>
          <p:cNvPr id="11" name="Problem card 2"/>
          <p:cNvSpPr/>
          <p:nvPr/>
        </p:nvSpPr>
        <p:spPr>
          <a:xfrm>
            <a:off x="457200" y="2286000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roblem 2"/>
          <p:cNvSpPr txBox="1"/>
          <p:nvPr/>
        </p:nvSpPr>
        <p:spPr>
          <a:xfrm>
            <a:off x="640080" y="2286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 braces, manifest-style patches</a:t>
            </a:r>
            <a:endParaRPr lang="en-US" sz="1400" dirty="0"/>
          </a:p>
        </p:txBody>
      </p:sp>
      <p:sp>
        <p:nvSpPr>
          <p:cNvPr id="13" name="Arrow 2"/>
          <p:cNvSpPr/>
          <p:nvPr/>
        </p:nvSpPr>
        <p:spPr>
          <a:xfrm>
            <a:off x="4480560" y="260604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Fix card 2"/>
          <p:cNvSpPr/>
          <p:nvPr/>
        </p:nvSpPr>
        <p:spPr>
          <a:xfrm>
            <a:off x="5029200" y="2286000"/>
            <a:ext cx="3657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Fix 2"/>
          <p:cNvSpPr txBox="1"/>
          <p:nvPr/>
        </p:nvSpPr>
        <p:spPr>
          <a:xfrm>
            <a:off x="5212080" y="2286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Lenient parser cleans up against the target</a:t>
            </a:r>
            <a:endParaRPr lang="en-US" sz="1400" dirty="0"/>
          </a:p>
        </p:txBody>
      </p:sp>
      <p:sp>
        <p:nvSpPr>
          <p:cNvPr id="16" name="Problem card 3"/>
          <p:cNvSpPr/>
          <p:nvPr/>
        </p:nvSpPr>
        <p:spPr>
          <a:xfrm>
            <a:off x="457200" y="3063240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roblem 3"/>
          <p:cNvSpPr txBox="1"/>
          <p:nvPr/>
        </p:nvSpPr>
        <p:spPr>
          <a:xfrm>
            <a:off x="640080" y="3063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generation blocks Ollama</a:t>
            </a:r>
            <a:endParaRPr lang="en-US" sz="1400" dirty="0"/>
          </a:p>
        </p:txBody>
      </p:sp>
      <p:sp>
        <p:nvSpPr>
          <p:cNvPr id="18" name="Arrow 3"/>
          <p:cNvSpPr/>
          <p:nvPr/>
        </p:nvSpPr>
        <p:spPr>
          <a:xfrm>
            <a:off x="4480560" y="338328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ix card 3"/>
          <p:cNvSpPr/>
          <p:nvPr/>
        </p:nvSpPr>
        <p:spPr>
          <a:xfrm>
            <a:off x="5029200" y="3063240"/>
            <a:ext cx="3657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Fix 3"/>
          <p:cNvSpPr txBox="1"/>
          <p:nvPr/>
        </p:nvSpPr>
        <p:spPr>
          <a:xfrm>
            <a:off x="5212080" y="3063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cap, 180 s timeout, one retry</a:t>
            </a:r>
            <a:endParaRPr lang="en-US" sz="1400" dirty="0"/>
          </a:p>
        </p:txBody>
      </p:sp>
      <p:sp>
        <p:nvSpPr>
          <p:cNvPr id="21" name="Problem card 4"/>
          <p:cNvSpPr/>
          <p:nvPr/>
        </p:nvSpPr>
        <p:spPr>
          <a:xfrm>
            <a:off x="457200" y="3840480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Problem 4"/>
          <p:cNvSpPr txBox="1"/>
          <p:nvPr/>
        </p:nvSpPr>
        <p:spPr>
          <a:xfrm>
            <a:off x="64008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 fix worked</a:t>
            </a:r>
            <a:endParaRPr lang="en-US" sz="1400" dirty="0"/>
          </a:p>
        </p:txBody>
      </p:sp>
      <p:sp>
        <p:nvSpPr>
          <p:cNvPr id="23" name="Arrow 4"/>
          <p:cNvSpPr/>
          <p:nvPr/>
        </p:nvSpPr>
        <p:spPr>
          <a:xfrm>
            <a:off x="4480560" y="416052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Fix card 4"/>
          <p:cNvSpPr/>
          <p:nvPr/>
        </p:nvSpPr>
        <p:spPr>
          <a:xfrm>
            <a:off x="5029200" y="3840480"/>
            <a:ext cx="3657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Fix 4"/>
          <p:cNvSpPr txBox="1"/>
          <p:nvPr/>
        </p:nvSpPr>
        <p:spPr>
          <a:xfrm>
            <a:off x="5212080" y="3840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polls live state for up to 90 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agent sees what an engineer sees</a:t>
            </a:r>
            <a:endParaRPr lang="en-US" sz="3200" dirty="0"/>
          </a:p>
        </p:txBody>
      </p:sp>
      <p:sp>
        <p:nvSpPr>
          <p:cNvPr id="4" name="Obs card Metrics"/>
          <p:cNvSpPr/>
          <p:nvPr/>
        </p:nvSpPr>
        <p:spPr>
          <a:xfrm>
            <a:off x="457200" y="128016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bs badge Metrics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Obs head Metrics"/>
          <p:cNvSpPr txBox="1"/>
          <p:nvPr/>
        </p:nvSpPr>
        <p:spPr>
          <a:xfrm>
            <a:off x="118872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Alertmanager</a:t>
            </a:r>
            <a:endParaRPr lang="en-US" sz="1800" dirty="0"/>
          </a:p>
        </p:txBody>
      </p:sp>
      <p:sp>
        <p:nvSpPr>
          <p:cNvPr id="7" name="Obs bullets Metrics"/>
          <p:cNvSpPr txBox="1"/>
          <p:nvPr/>
        </p:nvSpPr>
        <p:spPr>
          <a:xfrm>
            <a:off x="685800" y="21488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alert rules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workloads, Jobs, CronJobs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with no endpoints</a:t>
            </a:r>
            <a:endParaRPr lang="en-US" sz="1400" dirty="0"/>
          </a:p>
        </p:txBody>
      </p:sp>
      <p:sp>
        <p:nvSpPr>
          <p:cNvPr id="8" name="Obs card Dashboards"/>
          <p:cNvSpPr/>
          <p:nvPr/>
        </p:nvSpPr>
        <p:spPr>
          <a:xfrm>
            <a:off x="3268980" y="128016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bs badge Dashboards"/>
          <p:cNvSpPr/>
          <p:nvPr/>
        </p:nvSpPr>
        <p:spPr>
          <a:xfrm>
            <a:off x="3451860" y="144475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Obs head Dashboards"/>
          <p:cNvSpPr txBox="1"/>
          <p:nvPr/>
        </p:nvSpPr>
        <p:spPr>
          <a:xfrm>
            <a:off x="400050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800" dirty="0"/>
          </a:p>
        </p:txBody>
      </p:sp>
      <p:sp>
        <p:nvSpPr>
          <p:cNvPr id="11" name="Obs bullets Dashboards"/>
          <p:cNvSpPr txBox="1"/>
          <p:nvPr/>
        </p:nvSpPr>
        <p:spPr>
          <a:xfrm>
            <a:off x="3497580" y="21488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Demo workloads dashboard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history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panel</a:t>
            </a:r>
            <a:endParaRPr lang="en-US" sz="1400" dirty="0"/>
          </a:p>
        </p:txBody>
      </p:sp>
      <p:sp>
        <p:nvSpPr>
          <p:cNvPr id="12" name="Obs card Logs"/>
          <p:cNvSpPr/>
          <p:nvPr/>
        </p:nvSpPr>
        <p:spPr>
          <a:xfrm>
            <a:off x="6080760" y="128016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Obs badge Logs"/>
          <p:cNvSpPr/>
          <p:nvPr/>
        </p:nvSpPr>
        <p:spPr>
          <a:xfrm>
            <a:off x="6263640" y="144475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Obs head Logs"/>
          <p:cNvSpPr txBox="1"/>
          <p:nvPr/>
        </p:nvSpPr>
        <p:spPr>
          <a:xfrm>
            <a:off x="681228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Alloy</a:t>
            </a:r>
            <a:endParaRPr lang="en-US" sz="1800" dirty="0"/>
          </a:p>
        </p:txBody>
      </p:sp>
      <p:sp>
        <p:nvSpPr>
          <p:cNvPr id="15" name="Obs bullets Logs"/>
          <p:cNvSpPr txBox="1"/>
          <p:nvPr/>
        </p:nvSpPr>
        <p:spPr>
          <a:xfrm>
            <a:off x="6309360" y="21488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namespaces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 retention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deleted pods</a:t>
            </a:r>
            <a:endParaRPr lang="en-US" sz="1400" dirty="0"/>
          </a:p>
        </p:txBody>
      </p:sp>
      <p:sp>
        <p:nvSpPr>
          <p:cNvPr id="16" name="Webhook band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Webhook text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webhook: bearer token  ·  15 minute dedupe  ·  one gated run at a time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 is the source of truth</a:t>
            </a:r>
            <a:endParaRPr lang="en-US" sz="3200" dirty="0"/>
          </a:p>
        </p:txBody>
      </p:sp>
      <p:sp>
        <p:nvSpPr>
          <p:cNvPr id="4" name="Flow git push"/>
          <p:cNvSpPr/>
          <p:nvPr/>
        </p:nvSpPr>
        <p:spPr>
          <a:xfrm>
            <a:off x="457200" y="1280160"/>
            <a:ext cx="1225296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Flow text git push"/>
          <p:cNvSpPr txBox="1"/>
          <p:nvPr/>
        </p:nvSpPr>
        <p:spPr>
          <a:xfrm>
            <a:off x="457200" y="128016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6" name="Flow arrow 0"/>
          <p:cNvSpPr/>
          <p:nvPr/>
        </p:nvSpPr>
        <p:spPr>
          <a:xfrm>
            <a:off x="1700784" y="1600200"/>
            <a:ext cx="138989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low GitHub Actions"/>
          <p:cNvSpPr/>
          <p:nvPr/>
        </p:nvSpPr>
        <p:spPr>
          <a:xfrm>
            <a:off x="1858061" y="1280160"/>
            <a:ext cx="1225296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Flow text GitHub Actions"/>
          <p:cNvSpPr txBox="1"/>
          <p:nvPr/>
        </p:nvSpPr>
        <p:spPr>
          <a:xfrm>
            <a:off x="1858061" y="128016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9" name="Flow arrow 1"/>
          <p:cNvSpPr/>
          <p:nvPr/>
        </p:nvSpPr>
        <p:spPr>
          <a:xfrm>
            <a:off x="3101645" y="1600200"/>
            <a:ext cx="138989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Flow GHCR image"/>
          <p:cNvSpPr/>
          <p:nvPr/>
        </p:nvSpPr>
        <p:spPr>
          <a:xfrm>
            <a:off x="3258922" y="1280160"/>
            <a:ext cx="1225296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Flow text GHCR image"/>
          <p:cNvSpPr txBox="1"/>
          <p:nvPr/>
        </p:nvSpPr>
        <p:spPr>
          <a:xfrm>
            <a:off x="3258922" y="128016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image</a:t>
            </a:r>
            <a:endParaRPr lang="en-US" sz="1300" dirty="0"/>
          </a:p>
        </p:txBody>
      </p:sp>
      <p:sp>
        <p:nvSpPr>
          <p:cNvPr id="12" name="Flow arrow 2"/>
          <p:cNvSpPr/>
          <p:nvPr/>
        </p:nvSpPr>
        <p:spPr>
          <a:xfrm>
            <a:off x="4502506" y="1600200"/>
            <a:ext cx="138989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Flow Tag commit"/>
          <p:cNvSpPr/>
          <p:nvPr/>
        </p:nvSpPr>
        <p:spPr>
          <a:xfrm>
            <a:off x="4659782" y="1280160"/>
            <a:ext cx="1225296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Flow text Tag commit"/>
          <p:cNvSpPr txBox="1"/>
          <p:nvPr/>
        </p:nvSpPr>
        <p:spPr>
          <a:xfrm>
            <a:off x="4659782" y="128016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commit</a:t>
            </a:r>
            <a:endParaRPr lang="en-US" sz="1300" dirty="0"/>
          </a:p>
        </p:txBody>
      </p:sp>
      <p:sp>
        <p:nvSpPr>
          <p:cNvPr id="15" name="Flow arrow 3"/>
          <p:cNvSpPr/>
          <p:nvPr/>
        </p:nvSpPr>
        <p:spPr>
          <a:xfrm>
            <a:off x="5903366" y="1600200"/>
            <a:ext cx="138989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Flow Argo CD"/>
          <p:cNvSpPr/>
          <p:nvPr/>
        </p:nvSpPr>
        <p:spPr>
          <a:xfrm>
            <a:off x="6060643" y="1280160"/>
            <a:ext cx="1225296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Flow text Argo CD"/>
          <p:cNvSpPr txBox="1"/>
          <p:nvPr/>
        </p:nvSpPr>
        <p:spPr>
          <a:xfrm>
            <a:off x="6060643" y="128016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300" dirty="0"/>
          </a:p>
        </p:txBody>
      </p:sp>
      <p:sp>
        <p:nvSpPr>
          <p:cNvPr id="18" name="Flow arrow 4"/>
          <p:cNvSpPr/>
          <p:nvPr/>
        </p:nvSpPr>
        <p:spPr>
          <a:xfrm>
            <a:off x="7304227" y="1600200"/>
            <a:ext cx="138989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low Cluster"/>
          <p:cNvSpPr/>
          <p:nvPr/>
        </p:nvSpPr>
        <p:spPr>
          <a:xfrm>
            <a:off x="7461504" y="1280160"/>
            <a:ext cx="1225296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Flow text Cluster"/>
          <p:cNvSpPr txBox="1"/>
          <p:nvPr/>
        </p:nvSpPr>
        <p:spPr>
          <a:xfrm>
            <a:off x="7461504" y="128016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00" dirty="0"/>
          </a:p>
        </p:txBody>
      </p:sp>
      <p:sp>
        <p:nvSpPr>
          <p:cNvPr id="21" name="GitOps card Platform apps"/>
          <p:cNvSpPr/>
          <p:nvPr/>
        </p:nvSpPr>
        <p:spPr>
          <a:xfrm>
            <a:off x="457200" y="21945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GitOps badge Platform apps"/>
          <p:cNvSpPr/>
          <p:nvPr/>
        </p:nvSpPr>
        <p:spPr>
          <a:xfrm>
            <a:off x="640080" y="23591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GitOps head Platform apps"/>
          <p:cNvSpPr txBox="1"/>
          <p:nvPr/>
        </p:nvSpPr>
        <p:spPr>
          <a:xfrm>
            <a:off x="1143000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apps</a:t>
            </a:r>
            <a:endParaRPr lang="en-US" sz="1800" dirty="0"/>
          </a:p>
        </p:txBody>
      </p:sp>
      <p:sp>
        <p:nvSpPr>
          <p:cNvPr id="24" name="GitOps bullets Platform apps"/>
          <p:cNvSpPr txBox="1"/>
          <p:nvPr/>
        </p:nvSpPr>
        <p:spPr>
          <a:xfrm>
            <a:off x="685800" y="29260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and self-heal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edits are reverted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apps Synced and Healthy</a:t>
            </a:r>
            <a:endParaRPr lang="en-US" sz="1400" dirty="0"/>
          </a:p>
        </p:txBody>
      </p:sp>
      <p:sp>
        <p:nvSpPr>
          <p:cNvPr id="25" name="GitOps card Demo apps"/>
          <p:cNvSpPr/>
          <p:nvPr/>
        </p:nvSpPr>
        <p:spPr>
          <a:xfrm>
            <a:off x="3268980" y="21945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GitOps badge Demo apps"/>
          <p:cNvSpPr/>
          <p:nvPr/>
        </p:nvSpPr>
        <p:spPr>
          <a:xfrm>
            <a:off x="3451860" y="2359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GitOps head Demo apps"/>
          <p:cNvSpPr txBox="1"/>
          <p:nvPr/>
        </p:nvSpPr>
        <p:spPr>
          <a:xfrm>
            <a:off x="3954780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apps</a:t>
            </a:r>
            <a:endParaRPr lang="en-US" sz="1800" dirty="0"/>
          </a:p>
        </p:txBody>
      </p:sp>
      <p:sp>
        <p:nvSpPr>
          <p:cNvPr id="28" name="GitOps bullets Demo apps"/>
          <p:cNvSpPr txBox="1"/>
          <p:nvPr/>
        </p:nvSpPr>
        <p:spPr>
          <a:xfrm>
            <a:off x="3497580" y="29260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sync only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shown as OutOfSync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fixes are not undone</a:t>
            </a:r>
            <a:endParaRPr lang="en-US" sz="1400" dirty="0"/>
          </a:p>
        </p:txBody>
      </p:sp>
      <p:sp>
        <p:nvSpPr>
          <p:cNvPr id="29" name="GitOps card Secrets"/>
          <p:cNvSpPr/>
          <p:nvPr/>
        </p:nvSpPr>
        <p:spPr>
          <a:xfrm>
            <a:off x="6080760" y="21945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GitOps badge Secrets"/>
          <p:cNvSpPr/>
          <p:nvPr/>
        </p:nvSpPr>
        <p:spPr>
          <a:xfrm>
            <a:off x="6263640" y="235915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GitOps head Secrets"/>
          <p:cNvSpPr txBox="1"/>
          <p:nvPr/>
        </p:nvSpPr>
        <p:spPr>
          <a:xfrm>
            <a:off x="6766560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800" dirty="0"/>
          </a:p>
        </p:txBody>
      </p:sp>
      <p:sp>
        <p:nvSpPr>
          <p:cNvPr id="32" name="GitOps bullets Secrets"/>
          <p:cNvSpPr txBox="1"/>
          <p:nvPr/>
        </p:nvSpPr>
        <p:spPr>
          <a:xfrm>
            <a:off x="6309360" y="29260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Secrets in git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 values committed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scans for leaks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Measured results</a:t>
            </a:r>
            <a:endParaRPr lang="en-US" sz="3200" dirty="0"/>
          </a:p>
        </p:txBody>
      </p:sp>
      <p:sp>
        <p:nvSpPr>
          <p:cNvPr id="4" name="Stat card 1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value 1"/>
          <p:cNvSpPr txBox="1"/>
          <p:nvPr/>
        </p:nvSpPr>
        <p:spPr>
          <a:xfrm>
            <a:off x="54864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4000" dirty="0"/>
          </a:p>
        </p:txBody>
      </p:sp>
      <p:sp>
        <p:nvSpPr>
          <p:cNvPr id="6" name="Stat label 1"/>
          <p:cNvSpPr txBox="1"/>
          <p:nvPr/>
        </p:nvSpPr>
        <p:spPr>
          <a:xfrm>
            <a:off x="64008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run as a CI gate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265176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s</a:t>
            </a:r>
            <a:endParaRPr lang="en-US" sz="4000" dirty="0"/>
          </a:p>
        </p:txBody>
      </p:sp>
      <p:sp>
        <p:nvSpPr>
          <p:cNvPr id="9" name="Stat label 2"/>
          <p:cNvSpPr txBox="1"/>
          <p:nvPr/>
        </p:nvSpPr>
        <p:spPr>
          <a:xfrm>
            <a:off x="274320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rebuild the whole stack from git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value 3"/>
          <p:cNvSpPr txBox="1"/>
          <p:nvPr/>
        </p:nvSpPr>
        <p:spPr>
          <a:xfrm>
            <a:off x="475488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s</a:t>
            </a:r>
            <a:endParaRPr lang="en-US" sz="4000" dirty="0"/>
          </a:p>
        </p:txBody>
      </p:sp>
      <p:sp>
        <p:nvSpPr>
          <p:cNvPr id="12" name="Stat label 3"/>
          <p:cNvSpPr txBox="1"/>
          <p:nvPr/>
        </p:nvSpPr>
        <p:spPr>
          <a:xfrm>
            <a:off x="484632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broken Service to verified fix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t value 4"/>
          <p:cNvSpPr txBox="1"/>
          <p:nvPr/>
        </p:nvSpPr>
        <p:spPr>
          <a:xfrm>
            <a:off x="685800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25/25</a:t>
            </a:r>
            <a:endParaRPr lang="en-US" sz="4000" dirty="0"/>
          </a:p>
        </p:txBody>
      </p:sp>
      <p:sp>
        <p:nvSpPr>
          <p:cNvPr id="15" name="Stat label 4"/>
          <p:cNvSpPr txBox="1"/>
          <p:nvPr/>
        </p:nvSpPr>
        <p:spPr>
          <a:xfrm>
            <a:off x="694944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permission checks as expected</a:t>
            </a:r>
            <a:endParaRPr lang="en-US" sz="1400" dirty="0"/>
          </a:p>
        </p:txBody>
      </p:sp>
      <p:sp>
        <p:nvSpPr>
          <p:cNvPr id="16" name="Results footnote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measurements on a 2-node kind cluster with a local 7B model. Not production traffic.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Walkthrough: a Service with no endpoints</a:t>
            </a:r>
            <a:endParaRPr lang="en-US" sz="3200" dirty="0"/>
          </a:p>
        </p:txBody>
      </p:sp>
      <p:sp>
        <p:nvSpPr>
          <p:cNvPr id="4" name="Walk badge 1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Walk number 1"/>
          <p:cNvSpPr txBox="1"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Walk step 1"/>
          <p:cNvSpPr txBox="1"/>
          <p:nvPr/>
        </p:nvSpPr>
        <p:spPr>
          <a:xfrm>
            <a:off x="960120" y="1280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 in the Service selector leaves it with no endpoints</a:t>
            </a:r>
            <a:endParaRPr lang="en-US" sz="1400" dirty="0"/>
          </a:p>
        </p:txBody>
      </p:sp>
      <p:sp>
        <p:nvSpPr>
          <p:cNvPr id="7" name="Walk badge 2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Walk number 2"/>
          <p:cNvSpPr txBox="1"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Walk step 2"/>
          <p:cNvSpPr txBox="1"/>
          <p:nvPr/>
        </p:nvSpPr>
        <p:spPr>
          <a:xfrm>
            <a:off x="9601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fires, or someone asks the agent</a:t>
            </a:r>
            <a:endParaRPr lang="en-US" sz="1400" dirty="0"/>
          </a:p>
        </p:txBody>
      </p:sp>
      <p:sp>
        <p:nvSpPr>
          <p:cNvPr id="10" name="Walk badge 3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Walk number 3"/>
          <p:cNvSpPr txBox="1"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Walk step 3"/>
          <p:cNvSpPr txBox="1"/>
          <p:nvPr/>
        </p:nvSpPr>
        <p:spPr>
          <a:xfrm>
            <a:off x="96012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compares selector and pod labels: high-confidence diagnosis</a:t>
            </a:r>
            <a:endParaRPr lang="en-US" sz="1400" dirty="0"/>
          </a:p>
        </p:txBody>
      </p:sp>
      <p:sp>
        <p:nvSpPr>
          <p:cNvPr id="13" name="Walk badge 4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Walk number 4"/>
          <p:cNvSpPr txBox="1"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Walk step 4"/>
          <p:cNvSpPr txBox="1"/>
          <p:nvPr/>
        </p:nvSpPr>
        <p:spPr>
          <a:xfrm>
            <a:off x="96012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patch_resource action, guard allowed, with a dry-run preview</a:t>
            </a:r>
            <a:endParaRPr lang="en-US" sz="1400" dirty="0"/>
          </a:p>
        </p:txBody>
      </p:sp>
      <p:sp>
        <p:nvSpPr>
          <p:cNvPr id="16" name="Walk badge 5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Walk number 5"/>
          <p:cNvSpPr txBox="1"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Walk step 5"/>
          <p:cNvSpPr txBox="1"/>
          <p:nvPr/>
        </p:nvSpPr>
        <p:spPr>
          <a:xfrm>
            <a:off x="9601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Approve: 2 ready endpoints, Argo CD shows Synced</a:t>
            </a:r>
            <a:endParaRPr lang="en-US" sz="1400" dirty="0"/>
          </a:p>
        </p:txBody>
      </p:sp>
      <p:sp>
        <p:nvSpPr>
          <p:cNvPr id="19" name="Plan panel"/>
          <p:cNvSpPr/>
          <p:nvPr/>
        </p:nvSpPr>
        <p:spPr>
          <a:xfrm>
            <a:off x="5394960" y="128016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Plan header"/>
          <p:cNvSpPr txBox="1"/>
          <p:nvPr/>
        </p:nvSpPr>
        <p:spPr>
          <a:xfrm>
            <a:off x="562356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PREVIEW</a:t>
            </a:r>
            <a:endParaRPr lang="en-US" sz="1200" dirty="0"/>
          </a:p>
        </p:txBody>
      </p:sp>
      <p:sp>
        <p:nvSpPr>
          <p:cNvPr id="21" name="Plan body"/>
          <p:cNvSpPr txBox="1"/>
          <p:nvPr/>
        </p:nvSpPr>
        <p:spPr>
          <a:xfrm>
            <a:off x="5623560" y="18288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patch_resource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Service/storefront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guard: allowed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spec.selector.app: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storefrnt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storefront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lab to production</a:t>
            </a:r>
            <a:endParaRPr lang="en-US" sz="3200" dirty="0"/>
          </a:p>
        </p:txBody>
      </p:sp>
      <p:sp>
        <p:nvSpPr>
          <p:cNvPr id="4" name="Already 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aps 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lready head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production way</a:t>
            </a:r>
            <a:endParaRPr lang="en-US" sz="1800" dirty="0"/>
          </a:p>
        </p:txBody>
      </p:sp>
      <p:sp>
        <p:nvSpPr>
          <p:cNvPr id="7" name="Already items"/>
          <p:cNvSpPr txBox="1"/>
          <p:nvPr/>
        </p:nvSpPr>
        <p:spPr>
          <a:xfrm>
            <a:off x="68580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the source of truth, one-command rebuild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in code and RBAC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secrets, pinned dependencies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gate: tests, lint, manifest checks</a:t>
            </a:r>
            <a:endParaRPr lang="en-US" sz="1400" dirty="0"/>
          </a:p>
        </p:txBody>
      </p:sp>
      <p:sp>
        <p:nvSpPr>
          <p:cNvPr id="8" name="Gaps head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 a real cluster</a:t>
            </a:r>
            <a:endParaRPr lang="en-US" sz="1800" dirty="0"/>
          </a:p>
        </p:txBody>
      </p:sp>
      <p:sp>
        <p:nvSpPr>
          <p:cNvPr id="9" name="Gaps items"/>
          <p:cNvSpPr txBox="1"/>
          <p:nvPr/>
        </p:nvSpPr>
        <p:spPr>
          <a:xfrm>
            <a:off x="489204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agent replica, a real database instead of SQLite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and required checks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and SSO on the UI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model, with an optional hosted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 Ops">
  <a:themeElements>
    <a:clrScheme name="Cluster Ops">
      <a:dk1>
        <a:srgbClr val="0F1B2D"/>
      </a:dk1>
      <a:lt1>
        <a:srgbClr val="FFFFFF"/>
      </a:lt1>
      <a:dk2>
        <a:srgbClr val="1E3A5F"/>
      </a:dk2>
      <a:lt2>
        <a:srgbClr val="EEF3F8"/>
      </a:lt2>
      <a:accent1>
        <a:srgbClr val="0E9F8E"/>
      </a:accent1>
      <a:accent2>
        <a:srgbClr val="E08A00"/>
      </a:accent2>
      <a:accent3>
        <a:srgbClr val="2F6FDE"/>
      </a:accent3>
      <a:accent4>
        <a:srgbClr val="D64545"/>
      </a:accent4>
      <a:accent5>
        <a:srgbClr val="5B6B7F"/>
      </a:accent5>
      <a:accent6>
        <a:srgbClr val="1F9D55"/>
      </a:accent6>
      <a:hlink>
        <a:srgbClr val="2F6FDE"/>
      </a:hlink>
      <a:folHlink>
        <a:srgbClr val="5B6B7F"/>
      </a:folHlink>
    </a:clrScheme>
    <a:fontScheme name="Cluster 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Troubleshooting AI Agent</dc:title>
  <dc:subject>PptxGenJS Presentation</dc:subject>
  <dc:creator>Matteo Rama</dc:creator>
  <cp:lastModifiedBy>Matteo Rama</cp:lastModifiedBy>
  <cp:revision>1</cp:revision>
  <dcterms:created xsi:type="dcterms:W3CDTF">2026-10-11T00:18:34Z</dcterms:created>
  <dcterms:modified xsi:type="dcterms:W3CDTF">2026-10-11T00:18:34Z</dcterms:modified>
</cp:coreProperties>
</file>